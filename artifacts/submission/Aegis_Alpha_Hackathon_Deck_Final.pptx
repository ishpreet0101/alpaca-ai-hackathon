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3a54795784437f" /><Relationship Type="http://schemas.openxmlformats.org/officeDocument/2006/relationships/extended-properties" Target="/docProps/app.xml" Id="R1ad910bcfd064906" /><Relationship Type="http://schemas.openxmlformats.org/officeDocument/2006/relationships/officeDocument" Target="/ppt/presentation.xml" Id="Re7820f8894d748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8df3ae3f8d45b0"/>
  </p:sldMasterIdLst>
  <p:notesMasterIdLst>
    <p:notesMasterId xmlns:r="http://schemas.openxmlformats.org/officeDocument/2006/relationships" r:id="Rde6325843d464544"/>
  </p:notesMasterIdLst>
  <p:sldIdLst>
    <p:sldId xmlns:r="http://schemas.openxmlformats.org/officeDocument/2006/relationships" id="256" r:id="Ra6d9e39a2f7745bb"/>
    <p:sldId xmlns:r="http://schemas.openxmlformats.org/officeDocument/2006/relationships" id="257" r:id="R7dd446e37e6e4ee4"/>
    <p:sldId xmlns:r="http://schemas.openxmlformats.org/officeDocument/2006/relationships" id="258" r:id="R6f1b204e37f04997"/>
    <p:sldId xmlns:r="http://schemas.openxmlformats.org/officeDocument/2006/relationships" id="259" r:id="R8bc4a2168c82421b"/>
    <p:sldId xmlns:r="http://schemas.openxmlformats.org/officeDocument/2006/relationships" id="260" r:id="Rff3ae56f5b614555"/>
    <p:sldId xmlns:r="http://schemas.openxmlformats.org/officeDocument/2006/relationships" id="261" r:id="R9ce58a49197d466d"/>
    <p:sldId xmlns:r="http://schemas.openxmlformats.org/officeDocument/2006/relationships" id="262" r:id="Rfbbc1519eb694c6b"/>
    <p:sldId xmlns:r="http://schemas.openxmlformats.org/officeDocument/2006/relationships" id="263" r:id="R648171a3e21f42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632e3be21a4094" /><Relationship Type="http://schemas.openxmlformats.org/officeDocument/2006/relationships/slideMaster" Target="/ppt/slideMasters/slideMaster1.xml" Id="Re98df3ae3f8d45b0" /><Relationship Type="http://schemas.openxmlformats.org/officeDocument/2006/relationships/notesMaster" Target="/ppt/notesMasters/notesMaster1.xml" Id="Rde6325843d464544" /><Relationship Type="http://schemas.openxmlformats.org/officeDocument/2006/relationships/presProps" Target="/ppt/presProps.xml" Id="Rbb643ab9673b4ebe" /><Relationship Type="http://schemas.openxmlformats.org/officeDocument/2006/relationships/tableStyles" Target="/ppt/tableStyles.xml" Id="Rce34e997faa14a25" /><Relationship Type="http://schemas.openxmlformats.org/officeDocument/2006/relationships/slide" Target="/ppt/slides/slide1.xml" Id="Ra6d9e39a2f7745bb" /><Relationship Type="http://schemas.openxmlformats.org/officeDocument/2006/relationships/slide" Target="/ppt/slides/slide2.xml" Id="R7dd446e37e6e4ee4" /><Relationship Type="http://schemas.openxmlformats.org/officeDocument/2006/relationships/slide" Target="/ppt/slides/slide3.xml" Id="R6f1b204e37f04997" /><Relationship Type="http://schemas.openxmlformats.org/officeDocument/2006/relationships/slide" Target="/ppt/slides/slide4.xml" Id="R8bc4a2168c82421b" /><Relationship Type="http://schemas.openxmlformats.org/officeDocument/2006/relationships/slide" Target="/ppt/slides/slide5.xml" Id="Rff3ae56f5b614555" /><Relationship Type="http://schemas.openxmlformats.org/officeDocument/2006/relationships/slide" Target="/ppt/slides/slide6.xml" Id="R9ce58a49197d466d" /><Relationship Type="http://schemas.openxmlformats.org/officeDocument/2006/relationships/slide" Target="/ppt/slides/slide7.xml" Id="Rfbbc1519eb694c6b" /><Relationship Type="http://schemas.openxmlformats.org/officeDocument/2006/relationships/slide" Target="/ppt/slides/slide8.xml" Id="R648171a3e21f42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63af94131941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101112aa5941d9" /><Relationship Type="http://schemas.openxmlformats.org/officeDocument/2006/relationships/notesMaster" Target="/ppt/notesMasters/notesMaster1.xml" Id="R5c643db09ee745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f341e007424228" /><Relationship Type="http://schemas.openxmlformats.org/officeDocument/2006/relationships/notesMaster" Target="/ppt/notesMasters/notesMaster1.xml" Id="Ra117db4dcbdc4d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5a39c99af74626" /><Relationship Type="http://schemas.openxmlformats.org/officeDocument/2006/relationships/notesMaster" Target="/ppt/notesMasters/notesMaster1.xml" Id="R830dcfa97bc047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54a538462f46fb" /><Relationship Type="http://schemas.openxmlformats.org/officeDocument/2006/relationships/notesMaster" Target="/ppt/notesMasters/notesMaster1.xml" Id="Re02c655f9fc64c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17f1bc612c4566" /><Relationship Type="http://schemas.openxmlformats.org/officeDocument/2006/relationships/notesMaster" Target="/ppt/notesMasters/notesMaster1.xml" Id="Rd957d689fa064f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cdd33c0aed4df4" /><Relationship Type="http://schemas.openxmlformats.org/officeDocument/2006/relationships/notesMaster" Target="/ppt/notesMasters/notesMaster1.xml" Id="R88085a63cf9146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9675133f314947" /><Relationship Type="http://schemas.openxmlformats.org/officeDocument/2006/relationships/notesMaster" Target="/ppt/notesMasters/notesMaster1.xml" Id="R84965c60e5664d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6922af2041494f" /><Relationship Type="http://schemas.openxmlformats.org/officeDocument/2006/relationships/notesMaster" Target="/ppt/notesMasters/notesMaster1.xml" Id="Rce933ef4cab544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tension: autonomy is useful only when it cannot evade risk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hackathon brief and roadmap</a:t>
            </a:r>
          </a:p>
          <a:p xmlns:a="http://schemas.openxmlformats.org/drawingml/2006/main">
            <a:r>
              <a:t>- https://docs.alpaca.markets/us/docs/getting-started-with-trading-api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safety boundary the original idea—not merely a feature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D:/Hacathon/Alpaca AI Hackathon/docs/ARCHITECTURE.md</a:t>
            </a:r>
          </a:p>
          <a:p xmlns:a="http://schemas.openxmlformats.org/drawingml/2006/main">
            <a:r>
              <a:t>- D:/Hacathon/Alpaca AI Hackathon/src/aegis_alpha/risk.py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Stress that the highlighted boundary cannot be bypassed by the ranker.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D:/Hacathon/Alpaca AI Hackathon/src/aegis_alpha/orchestrator.py</a:t>
            </a:r>
          </a:p>
          <a:p xmlns:a="http://schemas.openxmlformats.org/drawingml/2006/main">
            <a:r>
              <a:t>- https://alpaca.markets/learn/building-a-multi-agent-ai-trading-system-on-alpaca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fixed structure makes behavior auditable and keeps the demo honest.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D:/Hacathon/Alpaca AI Hackathon/src/aegis_alpha/indicators.py</a:t>
            </a:r>
          </a:p>
          <a:p xmlns:a="http://schemas.openxmlformats.org/drawingml/2006/main">
            <a:r>
              <a:t>- D:/Hacathon/Alpaca AI Hackathon/src/aegis_alpha/strategy.py</a:t>
            </a:r>
          </a:p>
          <a:p xmlns:a="http://schemas.openxmlformats.org/drawingml/2006/main">
            <a:r>
              <a:t>- https://github.com/alpacahq/alpaca-py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numbers are frozen configuration, each covered by unit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D:/Hacathon/Alpaca AI Hackathon/src/aegis_alpha/config.py</a:t>
            </a:r>
          </a:p>
          <a:p xmlns:a="http://schemas.openxmlformats.org/drawingml/2006/main">
            <a:r>
              <a:t>- D:/Hacathon/Alpaca AI Hackathon/src/aegis_alpha/risk.py</a:t>
            </a:r>
          </a:p>
          <a:p xmlns:a="http://schemas.openxmlformats.org/drawingml/2006/main">
            <a:r>
              <a:t>- D:/Hacathon/Alpaca AI Hackathon/src/aegis_alpha/monitor.py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both the SDK and CLI adapters. The comparison is material, not decorative.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D:/Hacathon/Alpaca AI Hackathon/src/aegis_alpha/broker/alpaca_gateway.py</a:t>
            </a:r>
          </a:p>
          <a:p xmlns:a="http://schemas.openxmlformats.org/drawingml/2006/main">
            <a:r>
              <a:t>- D:/Hacathon/Alpaca AI Hackathon/src/aegis_alpha/broker/cli_adapter.py</a:t>
            </a:r>
          </a:p>
          <a:p xmlns:a="http://schemas.openxmlformats.org/drawingml/2006/main">
            <a:r>
              <a:t>- https://docs.alpaca.markets/us/docs/alpacas-cli</a:t>
            </a:r>
          </a:p>
          <a:p xmlns:a="http://schemas.openxmlformats.org/drawingml/2006/main">
            <a:r>
              <a:t>- https://docs.alpaca.markets/us/docs/alpaca-mcp-server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precise: these are local results, not a live Alpaca session or profitability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D:/Hacathon/Alpaca AI Hackathon/tests</a:t>
            </a:r>
          </a:p>
          <a:p xmlns:a="http://schemas.openxmlformats.org/drawingml/2006/main">
            <a:r>
              <a:t>- D:/Hacathon/Alpaca AI Hackathon/fixtures/replay_scenarios.json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Resolve the opening: safe autonomy is achieved by separating judgment from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D:/Hacathon/Alpaca AI Hackathon/README.md</a:t>
            </a:r>
          </a:p>
          <a:p xmlns:a="http://schemas.openxmlformats.org/drawingml/2006/main">
            <a:r>
              <a:t>- D:/Hacathon/Alpaca AI Hackathon/docs/VIDEO_SCRIPT.md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7b9f24014c4d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222f22d7ca4e7d" /><Relationship Type="http://schemas.openxmlformats.org/officeDocument/2006/relationships/slideLayout" Target="/ppt/slideLayouts/slideLayout1.xml" Id="R7cc31eff836943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c31eff836943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6cbb11bce425b" /><Relationship Type="http://schemas.openxmlformats.org/officeDocument/2006/relationships/image" Target="/ppt/media/image.png" Id="R6e2078bbb56746eb" /><Relationship Type="http://schemas.openxmlformats.org/officeDocument/2006/relationships/notesSlide" Target="/ppt/notesSlides/notesSlide1.xml" Id="R2aa45c22963643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b34df59614858" /><Relationship Type="http://schemas.openxmlformats.org/officeDocument/2006/relationships/notesSlide" Target="/ppt/notesSlides/notesSlide2.xml" Id="R9cb347e3199945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1d14238ed46a1" /><Relationship Type="http://schemas.openxmlformats.org/officeDocument/2006/relationships/notesSlide" Target="/ppt/notesSlides/notesSlide3.xml" Id="R3e66fdd502c042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36b96ef1c41e4" /><Relationship Type="http://schemas.openxmlformats.org/officeDocument/2006/relationships/notesSlide" Target="/ppt/notesSlides/notesSlide4.xml" Id="Re638e24fe5d847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04d7cc6f84a77" /><Relationship Type="http://schemas.openxmlformats.org/officeDocument/2006/relationships/notesSlide" Target="/ppt/notesSlides/notesSlide5.xml" Id="R5f29323a93ef43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5b2f506b5482b" /><Relationship Type="http://schemas.openxmlformats.org/officeDocument/2006/relationships/notesSlide" Target="/ppt/notesSlides/notesSlide6.xml" Id="Rb2ad2cfac7914a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5bbb2684b47c4" /><Relationship Type="http://schemas.openxmlformats.org/officeDocument/2006/relationships/notesSlide" Target="/ppt/notesSlides/notesSlide7.xml" Id="Rde8d41886c5a43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8634349b843a5" /><Relationship Type="http://schemas.openxmlformats.org/officeDocument/2006/relationships/notesSlide" Target="/ppt/notesSlides/notesSlide8.xml" Id="R3e9e96bbaa5e4f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078bbb56746e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9F755-1352-4A29-A58E-B4FA1243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7"/>
          </a:solidFill>
          <a:ln xmlns:a="http://schemas.openxmlformats.org/drawingml/2006/main" w="0">
            <a:solidFill>
              <a:srgbClr val="02040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5904B-20C3-4D62-8B85-131E2D36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C4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C4F4"/>
                </a:solidFill>
                <a:latin typeface="Arial"/>
                <a:ea typeface="Arial"/>
                <a:cs typeface="Arial"/>
              </a:rPr>
              <a:t>ALPACA AI TRADING AGENTS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0ED6C9-1C56-4C89-828E-C94BE414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4782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Aegis Alpha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FF4D9-CB88-414A-BFA4-B7F526E3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57475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AE3E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AE3EA"/>
                </a:solidFill>
                <a:latin typeface="Arial"/>
                <a:ea typeface="Arial"/>
                <a:cs typeface="Arial"/>
              </a:rPr>
              <a:t>An autonomous, explainable options agent with deterministic risk control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552450" y="4105275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7C4F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29D54-DDCB-4758-8198-4B246E70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52925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SPY / QQQ defined-risk debit spreads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Paper trading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2D432-B5E6-4B21-8A6B-07BCDE8A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9AA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D9AA7"/>
                </a:solidFill>
                <a:latin typeface="Arial"/>
                <a:ea typeface="Arial"/>
                <a:cs typeface="Arial"/>
              </a:rPr>
              <a:t>Hackathon submission •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4316282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F1214-FE26-4438-B923-DF5EA8C0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A2D16-456E-4801-B578-019CD25D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Autonomy needs a hard boundary</a:t>
            </a:r>
          </a:p>
        </p:txBody>
      </p:sp>
      <p:cxnSp>
        <p:nvCxnSpPr>
          <p:cNvPr id="13" name=""/>
          <p:cNvCxnSpPr/>
          <p:nvPr/>
        </p:nvCxnSpPr>
        <p:spPr>
          <a:xfrm xmlns:a="http://schemas.openxmlformats.org/drawingml/2006/main">
            <a:off x="495300" y="136207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70B1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BB57B-305B-4515-B1E9-4630C0AC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B6762-E380-46E7-9FCB-047D9AE1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19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E3E5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E3E54"/>
                </a:solidFill>
                <a:latin typeface="Arial"/>
                <a:ea typeface="Arial"/>
                <a:cs typeface="Arial"/>
              </a:rPr>
              <a:t>THE FAILURE MODE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DEDEF-8DF3-4DBF-AF0C-218DD5BE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AI can produce a persuasive thesis while market data is stale, liquidity is poor, or portfolio risk is already exhausted.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424D7-645F-41FB-8602-226E544C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7335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0"/>
          </a:solidFill>
          <a:ln xmlns:a="http://schemas.openxmlformats.org/drawingml/2006/main" w="0">
            <a:solidFill>
              <a:srgbClr val="070B1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D657E-8E10-46B6-94CD-DFE20A52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1927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8F6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8F64"/>
                </a:solidFill>
                <a:latin typeface="Arial"/>
                <a:ea typeface="Arial"/>
                <a:cs typeface="Arial"/>
              </a:rPr>
              <a:t>THE DESIGN RESPONSE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1690F-8EBB-47BE-B4C0-24C7F635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4810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5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Reasoning may rank valid opportunities. Deterministic Python alone decides whether an order is permitted.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E3561-9E5D-4B6F-87A4-810770AC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24300"/>
            <a:ext cx="457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• Missing data → NO_TRADE</a:t>
            </a:r>
          </a:p>
          <a:p xmlns:a="http://schemas.openxmlformats.org/drawingml/2006/main">
            <a:pPr algn="l">
              <a:defRPr sz="165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• Contradiction → NO_TRADE</a:t>
            </a:r>
          </a:p>
          <a:p xmlns:a="http://schemas.openxmlformats.org/drawingml/2006/main">
            <a:pPr algn="l">
              <a:defRPr sz="165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• Reconciliation mismatch → HALT</a:t>
            </a:r>
          </a:p>
          <a:p xmlns:a="http://schemas.openxmlformats.org/drawingml/2006/main">
            <a:pPr algn="l">
              <a:defRPr sz="165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• Live endpoint → REJECT</a:t>
            </a:r>
          </a:p>
        </p:txBody>
      </p:sp>
    </p:spTree>
    <p:extLst>
      <p:ext uri="{BB962C8B-B14F-4D97-AF65-F5344CB8AC3E}">
        <p14:creationId xmlns:p14="http://schemas.microsoft.com/office/powerpoint/2010/main" val="19338625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301228-42E2-40BA-8A90-95503DC4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13976-AE9E-4E23-954B-80022CB4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Every cycle narrows freedom before execution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136207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70B1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BC786-1202-4E99-9F2D-13843F2D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306E9-CF0B-4E13-B2CA-9C177526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CC4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AEA4C-4FEB-44A7-AC76-9B443F1A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95525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Market</a:t>
            </a:r>
          </a:p>
          <a:p xmlns:a="http://schemas.openxmlformats.org/drawingml/2006/main">
            <a:pPr algn="ctr">
              <a:defRPr sz="1425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8DF61-07D7-4C8B-996E-4796593C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526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CC4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08547-D377-4081-A807-B64136FC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295525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Regime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FFD09-3CDB-4361-9187-20FA95F3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526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CC4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8CA62-AA3A-4CF0-8912-95330C6C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95525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Candidates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E81D0-21B4-4899-B36B-65B51EEE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1526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CC4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5EE17-D7DB-4A05-8977-E5C05EF6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295525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Critic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48CC17-5AB5-4584-A1FB-05B4958A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526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5FC"/>
          </a:solidFill>
          <a:ln xmlns:a="http://schemas.openxmlformats.org/drawingml/2006/main" w="9525">
            <a:solidFill>
              <a:srgbClr val="BCC4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E6C403-6BEF-43A0-AB04-A2C3DA6F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95525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Risk</a:t>
            </a:r>
          </a:p>
          <a:p xmlns:a="http://schemas.openxmlformats.org/drawingml/2006/main">
            <a:pPr algn="ctr">
              <a:defRPr sz="1425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1C53B2-1A66-48D9-B920-0727DF92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1526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CC4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B5E885-110B-4264-BA6A-8B03AFD1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295525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Executor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CEF30D-7A09-4EBF-9F68-BEE2FB45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526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CC4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927640-0092-4D71-A66F-8D02AC47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295525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1828800" y="251460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70B10"/>
            </a:solidFill>
            <a:prstDash val="solid"/>
          </a:ln>
        </p:spPr>
      </p:cxnSp>
      <p:cxnSp>
        <p:nvCxnSpPr>
          <p:cNvPr id="49" name=""/>
          <p:cNvCxnSpPr/>
          <p:nvPr/>
        </p:nvCxnSpPr>
        <p:spPr>
          <a:xfrm xmlns:a="http://schemas.openxmlformats.org/drawingml/2006/main">
            <a:off x="3476625" y="251460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70B10"/>
            </a:solidFill>
            <a:prstDash val="solid"/>
          </a:ln>
        </p:spPr>
      </p:cxnSp>
      <p:cxnSp>
        <p:nvCxnSpPr>
          <p:cNvPr id="50" name=""/>
          <p:cNvCxnSpPr/>
          <p:nvPr/>
        </p:nvCxnSpPr>
        <p:spPr>
          <a:xfrm xmlns:a="http://schemas.openxmlformats.org/drawingml/2006/main">
            <a:off x="5124450" y="251460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70B10"/>
            </a:solidFill>
            <a:prstDash val="solid"/>
          </a:ln>
        </p:spPr>
      </p:cxnSp>
      <p:cxnSp>
        <p:nvCxnSpPr>
          <p:cNvPr id="51" name=""/>
          <p:cNvCxnSpPr/>
          <p:nvPr/>
        </p:nvCxnSpPr>
        <p:spPr>
          <a:xfrm xmlns:a="http://schemas.openxmlformats.org/drawingml/2006/main">
            <a:off x="6772275" y="251460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cxnSp>
        <p:nvCxnSpPr>
          <p:cNvPr id="52" name=""/>
          <p:cNvCxnSpPr/>
          <p:nvPr/>
        </p:nvCxnSpPr>
        <p:spPr>
          <a:xfrm xmlns:a="http://schemas.openxmlformats.org/drawingml/2006/main">
            <a:off x="8420100" y="251460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70B10"/>
            </a:solidFill>
            <a:prstDash val="solid"/>
          </a:ln>
        </p:spPr>
      </p:cxnSp>
      <p:cxnSp>
        <p:nvCxnSpPr>
          <p:cNvPr id="53" name=""/>
          <p:cNvCxnSpPr/>
          <p:nvPr/>
        </p:nvCxnSpPr>
        <p:spPr>
          <a:xfrm xmlns:a="http://schemas.openxmlformats.org/drawingml/2006/main">
            <a:off x="10067925" y="251460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70B10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EE20AF-EB1E-429B-81A5-78E5CEEB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5280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AI reasoning zone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2047875" y="3771900"/>
            <a:ext cx="4724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CC4CC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2D66A5-0D7B-4000-A362-319B97D3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52800"/>
            <a:ext cx="440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Deterministic safety + execution zone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>
            <a:off x="6991350" y="3771900"/>
            <a:ext cx="472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145A16-BEE5-4D5B-A8F4-AB59080D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524375"/>
            <a:ext cx="7753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Independent CLI reconciliation runs around the execution boundary. MCP remains inspection-only for the demo.</a:t>
            </a:r>
          </a:p>
        </p:txBody>
      </p:sp>
    </p:spTree>
    <p:extLst>
      <p:ext uri="{BB962C8B-B14F-4D97-AF65-F5344CB8AC3E}">
        <p14:creationId xmlns:p14="http://schemas.microsoft.com/office/powerpoint/2010/main" val="5158035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A99AD6-2FD3-457B-BA3C-BB4B7BF7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FBC77-5500-49A9-9C5B-7C5C74B0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The search space is deliberately small and testable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95300" y="136207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70B1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4DC21-D54A-4B28-9A1B-18AB96B8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4A81C-4650-4AE6-BAD5-C4163EB8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430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BFC72-0FCE-4C85-8582-77961833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32385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Five-minute EMA trend, VWAP, RSI and realized volatility classify the regime as bullish, bearish or neutral.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0" y="171450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3BE85-A3CE-47EF-A112-D7C8A17C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7430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CONTRACTS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D5B491-F1C7-4D59-81BA-622D8166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57400"/>
            <a:ext cx="32385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Only same-expiry SPY/QQQ bull-call or bear-put debit spreads, 7–21 DTE, with long delta near 0.35–0.55.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811AD-B929-4DC4-A366-E0F46DCB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430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ORDER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6464B6-7AB8-44DB-AB6A-19250CDD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57400"/>
            <a:ext cx="32385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One atomic two-leg limit order with an idempotent client_order_id. Neutral regimes produce no candidate.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8A38D0-9379-4498-99C3-8C46E4AE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95825"/>
            <a:ext cx="10915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0"/>
          </a:solidFill>
          <a:ln xmlns:a="http://schemas.openxmlformats.org/drawingml/2006/main" w="0">
            <a:solidFill>
              <a:srgbClr val="070B1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17E35-F7E0-4B77-9111-62C1990A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034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Selection is optimized. Constraints are fixed.</a:t>
            </a:r>
          </a:p>
        </p:txBody>
      </p:sp>
    </p:spTree>
    <p:extLst>
      <p:ext uri="{BB962C8B-B14F-4D97-AF65-F5344CB8AC3E}">
        <p14:creationId xmlns:p14="http://schemas.microsoft.com/office/powerpoint/2010/main" val="11352482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5971E2-C1AD-4C2B-B04D-CD0500BA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RISK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F89C9-4631-474A-8049-494F3371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Nine deterministic gates must all agree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95300" y="136207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70B1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9D538-4201-4F7D-A9D3-8AB4829B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4D434-912C-476A-8B1E-64AB2D1A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764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≤ $500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E76FF-8748-491A-9122-335B7779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72402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planned loss per trade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523875" y="2390775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AAEE71-838A-4DA0-BE8E-7F2E1483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764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≤ $1,500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080E3-D952-429B-B404-3EFB8998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72402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aggregate open risk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4352925" y="2390775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6FCE9-4571-4816-AD8B-F9BC3974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6764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≤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3A8B81-5276-4200-B0C9-3D61C0B1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72402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simultaneous positions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8181975" y="2390775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9CC8D-D4E9-4408-BA4C-A3E5FF9D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575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 / day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87B88B-FBF5-4947-904C-22A81E27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05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new trade per underlying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523875" y="3771900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DB2C89-CB3C-49E3-AA28-D072E796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575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30 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F071D0-C7E0-4D87-9700-B51BD515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105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post-order cooldown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4352925" y="3771900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08107-F0F6-4D7A-9B8D-28B37673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0575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≤ 60 sec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FC28AB-42E6-46D2-96AD-7D2F768F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105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quote freshness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8181975" y="3771900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3D049B-4FFA-4E66-8094-D52B310A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386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≤ 15%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1D3117-D135-4891-B9C5-57756613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86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quote-width ratio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>
            <a:off x="523875" y="5153025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CC5CFF-2AAF-415E-8AEA-1F2D304A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4386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−1.5%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5289CD-CAC9-49DD-B587-DBE53E6F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486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daily drawdown halt</a:t>
            </a:r>
          </a:p>
        </p:txBody>
      </p:sp>
      <p:cxnSp>
        <p:nvCxnSpPr>
          <p:cNvPr id="60" name=""/>
          <p:cNvCxnSpPr/>
          <p:nvPr/>
        </p:nvCxnSpPr>
        <p:spPr>
          <a:xfrm xmlns:a="http://schemas.openxmlformats.org/drawingml/2006/main">
            <a:off x="4352925" y="5153025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B3674C-EBE9-4F53-9F99-7009FC13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4386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E3E5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E3E54"/>
                </a:solidFill>
                <a:latin typeface="Arial"/>
                <a:ea typeface="Arial"/>
                <a:cs typeface="Arial"/>
              </a:rPr>
              <a:t>15:45 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23227C-92CC-4962-ADF0-F3EC08F4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486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forced risk exit</a:t>
            </a:r>
          </a:p>
        </p:txBody>
      </p:sp>
      <p:cxnSp>
        <p:nvCxnSpPr>
          <p:cNvPr id="63" name=""/>
          <p:cNvCxnSpPr/>
          <p:nvPr/>
        </p:nvCxnSpPr>
        <p:spPr>
          <a:xfrm xmlns:a="http://schemas.openxmlformats.org/drawingml/2006/main">
            <a:off x="8181975" y="5153025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CFC3F6-ADCC-4384-9BA9-2416BC2B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340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Exit logic: +40% profit • −30% loss • invalidated signal • end-of-day cutoff</a:t>
            </a:r>
          </a:p>
        </p:txBody>
      </p:sp>
    </p:spTree>
    <p:extLst>
      <p:ext uri="{BB962C8B-B14F-4D97-AF65-F5344CB8AC3E}">
        <p14:creationId xmlns:p14="http://schemas.microsoft.com/office/powerpoint/2010/main" val="1811880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91677-A719-4F05-8F87-245857E3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EXECUTION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EB48C-C598-4D87-9581-8487FDEF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A second control plane checks the first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95300" y="136207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70B1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74628-03D2-44D9-990A-103177D7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89B80-BF9F-439B-8550-D71FAB96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SDK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BBA57-7E43-4B6C-863F-AA4423B7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85975"/>
            <a:ext cx="4524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alpaca-py retrieves account, clock, data, option chain and positions—then submits a typed multi-leg limit order.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A5158-138F-4115-88A9-F6B7EEA4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240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CLI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2E76FB-7BE5-44AC-AA84-B8DD1B93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85975"/>
            <a:ext cx="4524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Pinned Alpaca CLI independently reads account, open orders and positions through isolated JSON parsing.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5381625" y="2686050"/>
            <a:ext cx="1400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70B10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36FAA-62AA-4DB5-9A64-DEB6DB16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24100"/>
            <a:ext cx="1381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5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13FB6-3894-4F28-A1BD-9EA6DC5A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14600"/>
            <a:ext cx="1152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F2D76-3616-45A8-91EB-E0EEED58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81500"/>
            <a:ext cx="87249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0"/>
          </a:solidFill>
          <a:ln xmlns:a="http://schemas.openxmlformats.org/drawingml/2006/main" w="0">
            <a:solidFill>
              <a:srgbClr val="070B1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3EE6AC-3084-414C-A186-8C6E0106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657725"/>
            <a:ext cx="817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2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Mismatch → log full evidence → activate execution halt → allow no new 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F4ADE1-2C7E-4000-A87D-36615B3E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5724525"/>
            <a:ext cx="874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MCP is a judge-facing inspection surface—not a backdoor around the risk engine.</a:t>
            </a:r>
          </a:p>
        </p:txBody>
      </p:sp>
    </p:spTree>
    <p:extLst>
      <p:ext uri="{BB962C8B-B14F-4D97-AF65-F5344CB8AC3E}">
        <p14:creationId xmlns:p14="http://schemas.microsoft.com/office/powerpoint/2010/main" val="11594872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10CA4E-95B0-4F5C-8306-D2D6BE0F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D073C-71EF-409A-A2AE-D53146C0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Offline verified; broker proof is still pending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95300" y="136207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70B1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B404C-FDA4-4CD5-9CFF-54204370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61E49-E618-456B-965E-FBD9D043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86690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4D05B-3B8F-408E-BADF-F8578A78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6860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tests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37F81-C485-41BC-B100-83982120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6690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98AB11-813C-4CC9-8D53-7C622719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replay regimes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C9F70-573D-4755-A87E-BECDC648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669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74%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CE81C-72A0-490B-AEBF-CF8E50EF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860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measured code coverage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542925" y="3476625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4CC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859F40-6150-48D6-91AF-FE0314CD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829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8F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8F64"/>
                </a:solidFill>
                <a:latin typeface="Arial"/>
                <a:ea typeface="Arial"/>
                <a:cs typeface="Arial"/>
              </a:rPr>
              <a:t>Verified locally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CF53F6-AB78-44F3-BF72-E58DBC2C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257675"/>
            <a:ext cx="4667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Signals • filtering • risk gates • idempotency • malformed AI • replay • sanitized export • forced exits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0353F0-5527-44F4-8F64-C5CA6425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E3E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E3E54"/>
                </a:solidFill>
                <a:latin typeface="Arial"/>
                <a:ea typeface="Arial"/>
                <a:cs typeface="Arial"/>
              </a:rPr>
              <a:t>Credential-gated next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68646-4C39-48A4-834D-490745E5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57675"/>
            <a:ext cx="4667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0B1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0B10"/>
                </a:solidFill>
                <a:latin typeface="Arial"/>
                <a:ea typeface="Arial"/>
                <a:cs typeface="Arial"/>
              </a:rPr>
              <a:t>Real paper account • option-chain integration • filled multi-leg lifecycle • CLI reconciliation • paper P&amp;L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9E8BD3-F8F2-407D-8738-06952E9D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53125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8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873"/>
                </a:solidFill>
                <a:latin typeface="Arial"/>
                <a:ea typeface="Arial"/>
                <a:cs typeface="Arial"/>
              </a:rPr>
              <a:t>One credential-gated integration test is skipped by design.</a:t>
            </a:r>
          </a:p>
        </p:txBody>
      </p:sp>
    </p:spTree>
    <p:extLst>
      <p:ext uri="{BB962C8B-B14F-4D97-AF65-F5344CB8AC3E}">
        <p14:creationId xmlns:p14="http://schemas.microsoft.com/office/powerpoint/2010/main" val="19562274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11DE51-10CC-4871-9D05-EC3495BB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C4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C4F4"/>
                </a:solidFill>
                <a:latin typeface="Arial"/>
                <a:ea typeface="Arial"/>
                <a:cs typeface="Arial"/>
              </a:rPr>
              <a:t>THE DEMO PROMISE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D4FBB-329B-46A9-8EE8-25EDDFD5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72390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 every decision.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Bound every loss.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Fail closed.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552450" y="4105275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7C4F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3BEA6-2AEB-4A0F-A176-A2189448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C4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7C4F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35F93-F11C-404D-8961-77029378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482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 one cycle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1053F-E23C-433F-8426-D024B90D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6732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6C1"/>
                </a:solidFill>
                <a:latin typeface="Arial"/>
                <a:ea typeface="Arial"/>
                <a:cs typeface="Arial"/>
              </a:rPr>
              <a:t>Regime → spread → critic → gates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1A894-7DA9-409A-86B7-88979E13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C4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7C4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11977-43EB-4B3A-8EFF-8374DAE9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482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Inspect execution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F5097D-5125-49CB-876E-BEFA906F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6732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6C1"/>
                </a:solidFill>
                <a:latin typeface="Arial"/>
                <a:ea typeface="Arial"/>
                <a:cs typeface="Arial"/>
              </a:rPr>
              <a:t>API request, order intent and audit log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A2256-D159-49F2-84A2-8073D4F5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76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C4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7C4F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349BD3-CC19-486B-A957-C4A496C2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482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Reconcile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F6760-6CDD-429A-9959-621F572F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6732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6C1"/>
                </a:solidFill>
                <a:latin typeface="Arial"/>
                <a:ea typeface="Arial"/>
                <a:cs typeface="Arial"/>
              </a:rPr>
              <a:t>SDK vs CLI account, orders and positions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9B504-B9B2-4DC4-BEEA-DC47CF4B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76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C4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7C4F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464C97-09BF-4FF5-9662-245832AF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482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Show limits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ED0CE6-3039-48ED-9538-38C8A043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6732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6C1"/>
                </a:solidFill>
                <a:latin typeface="Arial"/>
                <a:ea typeface="Arial"/>
                <a:cs typeface="Arial"/>
              </a:rPr>
              <a:t>Dashboard, MCP inspection and honest caveats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140A00-07A4-4759-B6BD-FFF8CAE3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9AA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D9AA7"/>
                </a:solidFill>
                <a:latin typeface="Arial"/>
                <a:ea typeface="Arial"/>
                <a:cs typeface="Arial"/>
              </a:rPr>
              <a:t>Paper trading only • No claim of real-world profitability</a:t>
            </a:r>
          </a:p>
        </p:txBody>
      </p:sp>
    </p:spTree>
    <p:extLst>
      <p:ext uri="{BB962C8B-B14F-4D97-AF65-F5344CB8AC3E}">
        <p14:creationId xmlns:p14="http://schemas.microsoft.com/office/powerpoint/2010/main" val="20394553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2026-09-04T09:58:47.8860000Z</dcterms:created>
  <dcterms:modified xsi:type="dcterms:W3CDTF">2026-09-04T09:58:47.8860000Z</dcterms:modified>
</coreProperties>
</file>