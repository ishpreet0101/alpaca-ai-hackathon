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d8eb1f56ef4b33" /><Relationship Type="http://schemas.openxmlformats.org/officeDocument/2006/relationships/extended-properties" Target="/docProps/app.xml" Id="R69d00f174c75488e" /><Relationship Type="http://schemas.openxmlformats.org/officeDocument/2006/relationships/officeDocument" Target="/ppt/presentation.xml" Id="R583a8739a02f44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83c1c7e35f456c"/>
  </p:sldMasterIdLst>
  <p:notesMasterIdLst>
    <p:notesMasterId xmlns:r="http://schemas.openxmlformats.org/officeDocument/2006/relationships" r:id="R74bda10e793a47fe"/>
  </p:notesMasterIdLst>
  <p:sldIdLst>
    <p:sldId xmlns:r="http://schemas.openxmlformats.org/officeDocument/2006/relationships" id="256" r:id="Rfa9e8f5d84ce4932"/>
    <p:sldId xmlns:r="http://schemas.openxmlformats.org/officeDocument/2006/relationships" id="257" r:id="Rf85909bd95e9464a"/>
    <p:sldId xmlns:r="http://schemas.openxmlformats.org/officeDocument/2006/relationships" id="258" r:id="Re703c24dd205451c"/>
    <p:sldId xmlns:r="http://schemas.openxmlformats.org/officeDocument/2006/relationships" id="259" r:id="R82255265d2004a27"/>
    <p:sldId xmlns:r="http://schemas.openxmlformats.org/officeDocument/2006/relationships" id="260" r:id="R6313b7c975cd4d1a"/>
    <p:sldId xmlns:r="http://schemas.openxmlformats.org/officeDocument/2006/relationships" id="261" r:id="R45bec81eb1a247b0"/>
    <p:sldId xmlns:r="http://schemas.openxmlformats.org/officeDocument/2006/relationships" id="262" r:id="R94c4198c9e2b4c91"/>
    <p:sldId xmlns:r="http://schemas.openxmlformats.org/officeDocument/2006/relationships" id="263" r:id="R2dc112e8115846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4e6d6e83894e24" /><Relationship Type="http://schemas.openxmlformats.org/officeDocument/2006/relationships/slideMaster" Target="/ppt/slideMasters/slideMaster1.xml" Id="Rc383c1c7e35f456c" /><Relationship Type="http://schemas.openxmlformats.org/officeDocument/2006/relationships/notesMaster" Target="/ppt/notesMasters/notesMaster1.xml" Id="R74bda10e793a47fe" /><Relationship Type="http://schemas.openxmlformats.org/officeDocument/2006/relationships/presProps" Target="/ppt/presProps.xml" Id="R02f8685cedd14cc2" /><Relationship Type="http://schemas.openxmlformats.org/officeDocument/2006/relationships/tableStyles" Target="/ppt/tableStyles.xml" Id="Rc0453421219c4789" /><Relationship Type="http://schemas.openxmlformats.org/officeDocument/2006/relationships/slide" Target="/ppt/slides/slide1.xml" Id="Rfa9e8f5d84ce4932" /><Relationship Type="http://schemas.openxmlformats.org/officeDocument/2006/relationships/slide" Target="/ppt/slides/slide2.xml" Id="Rf85909bd95e9464a" /><Relationship Type="http://schemas.openxmlformats.org/officeDocument/2006/relationships/slide" Target="/ppt/slides/slide3.xml" Id="Re703c24dd205451c" /><Relationship Type="http://schemas.openxmlformats.org/officeDocument/2006/relationships/slide" Target="/ppt/slides/slide4.xml" Id="R82255265d2004a27" /><Relationship Type="http://schemas.openxmlformats.org/officeDocument/2006/relationships/slide" Target="/ppt/slides/slide5.xml" Id="R6313b7c975cd4d1a" /><Relationship Type="http://schemas.openxmlformats.org/officeDocument/2006/relationships/slide" Target="/ppt/slides/slide6.xml" Id="R45bec81eb1a247b0" /><Relationship Type="http://schemas.openxmlformats.org/officeDocument/2006/relationships/slide" Target="/ppt/slides/slide7.xml" Id="R94c4198c9e2b4c91" /><Relationship Type="http://schemas.openxmlformats.org/officeDocument/2006/relationships/slide" Target="/ppt/slides/slide8.xml" Id="R2dc112e8115846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e3c0316e3a41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da0da997a64391" /><Relationship Type="http://schemas.openxmlformats.org/officeDocument/2006/relationships/notesMaster" Target="/ppt/notesMasters/notesMaster1.xml" Id="R423a89c8868342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8849c8fd6d4fe0" /><Relationship Type="http://schemas.openxmlformats.org/officeDocument/2006/relationships/notesMaster" Target="/ppt/notesMasters/notesMaster1.xml" Id="Re524072a6f8f47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3e8dc32a6e4368" /><Relationship Type="http://schemas.openxmlformats.org/officeDocument/2006/relationships/notesMaster" Target="/ppt/notesMasters/notesMaster1.xml" Id="Reac51533f1ff4e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2d9b4a641240b8" /><Relationship Type="http://schemas.openxmlformats.org/officeDocument/2006/relationships/notesMaster" Target="/ppt/notesMasters/notesMaster1.xml" Id="Rca21308ca09341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66e607c758422a" /><Relationship Type="http://schemas.openxmlformats.org/officeDocument/2006/relationships/notesMaster" Target="/ppt/notesMasters/notesMaster1.xml" Id="Rb482f4d571814c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6e2b5ae8474d8b" /><Relationship Type="http://schemas.openxmlformats.org/officeDocument/2006/relationships/notesMaster" Target="/ppt/notesMasters/notesMaster1.xml" Id="R02097c5a52e243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20c939e8854431" /><Relationship Type="http://schemas.openxmlformats.org/officeDocument/2006/relationships/notesMaster" Target="/ppt/notesMasters/notesMaster1.xml" Id="R260b488617ca4a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d72e3d31ab4e3d" /><Relationship Type="http://schemas.openxmlformats.org/officeDocument/2006/relationships/notesMaster" Target="/ppt/notesMasters/notesMaster1.xml" Id="R16cdd108228947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tension: autonomy is useful only when it cannot evade risk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hackathon brief and roadmap</a:t>
            </a:r>
          </a:p>
          <a:p xmlns:a="http://schemas.openxmlformats.org/drawingml/2006/main">
            <a:r>
              <a:t>- https://docs.alpaca.markets/us/docs/getting-started-with-trading-api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safety boundary the original idea—not merely a feature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D:/Hacathon/Alpaca AI Hackathon/docs/ARCHITECTURE.md</a:t>
            </a:r>
          </a:p>
          <a:p xmlns:a="http://schemas.openxmlformats.org/drawingml/2006/main">
            <a:r>
              <a:t>- D:/Hacathon/Alpaca AI Hackathon/src/aegis_alpha/risk.py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Stress that the highlighted boundary cannot be bypassed by the ranker.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D:/Hacathon/Alpaca AI Hackathon/src/aegis_alpha/orchestrator.py</a:t>
            </a:r>
          </a:p>
          <a:p xmlns:a="http://schemas.openxmlformats.org/drawingml/2006/main">
            <a:r>
              <a:t>- https://alpaca.markets/learn/building-a-multi-agent-ai-trading-system-on-alpaca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fixed structure makes behavior auditable and keeps the demo honest.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D:/Hacathon/Alpaca AI Hackathon/src/aegis_alpha/indicators.py</a:t>
            </a:r>
          </a:p>
          <a:p xmlns:a="http://schemas.openxmlformats.org/drawingml/2006/main">
            <a:r>
              <a:t>- D:/Hacathon/Alpaca AI Hackathon/src/aegis_alpha/strategy.py</a:t>
            </a:r>
          </a:p>
          <a:p xmlns:a="http://schemas.openxmlformats.org/drawingml/2006/main">
            <a:r>
              <a:t>- https://github.com/alpacahq/alpaca-py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numbers are frozen configuration, each covered by unit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D:/Hacathon/Alpaca AI Hackathon/src/aegis_alpha/config.py</a:t>
            </a:r>
          </a:p>
          <a:p xmlns:a="http://schemas.openxmlformats.org/drawingml/2006/main">
            <a:r>
              <a:t>- D:/Hacathon/Alpaca AI Hackathon/src/aegis_alpha/risk.py</a:t>
            </a:r>
          </a:p>
          <a:p xmlns:a="http://schemas.openxmlformats.org/drawingml/2006/main">
            <a:r>
              <a:t>- D:/Hacathon/Alpaca AI Hackathon/src/aegis_alpha/monitor.py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both the SDK and CLI adapters. The comparison is material, not decorative.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D:/Hacathon/Alpaca AI Hackathon/src/aegis_alpha/broker/alpaca_gateway.py</a:t>
            </a:r>
          </a:p>
          <a:p xmlns:a="http://schemas.openxmlformats.org/drawingml/2006/main">
            <a:r>
              <a:t>- D:/Hacathon/Alpaca AI Hackathon/src/aegis_alpha/broker/cli_adapter.py</a:t>
            </a:r>
          </a:p>
          <a:p xmlns:a="http://schemas.openxmlformats.org/drawingml/2006/main">
            <a:r>
              <a:t>- https://docs.alpaca.markets/us/docs/alpacas-cli</a:t>
            </a:r>
          </a:p>
          <a:p xmlns:a="http://schemas.openxmlformats.org/drawingml/2006/main">
            <a:r>
              <a:t>- https://docs.alpaca.markets/us/docs/alpaca-mcp-server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precise: these are local results, not a live Alpaca session or profitability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D:/Hacathon/Alpaca AI Hackathon/tests</a:t>
            </a:r>
          </a:p>
          <a:p xmlns:a="http://schemas.openxmlformats.org/drawingml/2006/main">
            <a:r>
              <a:t>- D:/Hacathon/Alpaca AI Hackathon/fixtures/replay_scenarios.json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opening: safe autonomy is achieved by separating judgment from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D:/Hacathon/Alpaca AI Hackathon/README.md</a:t>
            </a:r>
          </a:p>
          <a:p xmlns:a="http://schemas.openxmlformats.org/drawingml/2006/main">
            <a:r>
              <a:t>- D:/Hacathon/Alpaca AI Hackathon/docs/VIDEO_SCRIPT.md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038cee78ce42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d21ffb26f74797" /><Relationship Type="http://schemas.openxmlformats.org/officeDocument/2006/relationships/slideLayout" Target="/ppt/slideLayouts/slideLayout1.xml" Id="R58509988708943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509988708943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b4aeaa02049e2" /><Relationship Type="http://schemas.openxmlformats.org/officeDocument/2006/relationships/image" Target="/ppt/media/image.png" Id="Rb136de63c4cc42b5" /><Relationship Type="http://schemas.openxmlformats.org/officeDocument/2006/relationships/notesSlide" Target="/ppt/notesSlides/notesSlide1.xml" Id="R9911d37f2cea4d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dc4c7331b47b3" /><Relationship Type="http://schemas.openxmlformats.org/officeDocument/2006/relationships/notesSlide" Target="/ppt/notesSlides/notesSlide2.xml" Id="R9ef8d0ae7a7f46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67b22afa74ca3" /><Relationship Type="http://schemas.openxmlformats.org/officeDocument/2006/relationships/notesSlide" Target="/ppt/notesSlides/notesSlide3.xml" Id="R032709d0028545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cca862e134d50" /><Relationship Type="http://schemas.openxmlformats.org/officeDocument/2006/relationships/notesSlide" Target="/ppt/notesSlides/notesSlide4.xml" Id="Rdfca6d660c4749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a9abbe3f143da" /><Relationship Type="http://schemas.openxmlformats.org/officeDocument/2006/relationships/notesSlide" Target="/ppt/notesSlides/notesSlide5.xml" Id="R5336b4ea169645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628976d8947f6" /><Relationship Type="http://schemas.openxmlformats.org/officeDocument/2006/relationships/notesSlide" Target="/ppt/notesSlides/notesSlide6.xml" Id="R4ca312137c9442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ba4290ad44fba" /><Relationship Type="http://schemas.openxmlformats.org/officeDocument/2006/relationships/notesSlide" Target="/ppt/notesSlides/notesSlide7.xml" Id="Rfe7c988961a346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eeafcb94e4fbe" /><Relationship Type="http://schemas.openxmlformats.org/officeDocument/2006/relationships/notesSlide" Target="/ppt/notesSlides/notesSlide8.xml" Id="R7467ec8878f44a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6de63c4cc42b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72F97-ED2E-4663-836F-3150ECF3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7"/>
          </a:solidFill>
          <a:ln xmlns:a="http://schemas.openxmlformats.org/drawingml/2006/main" w="0">
            <a:solidFill>
              <a:srgbClr val="02040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FDB7F-0038-46AF-9975-034B54AD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C4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C4F4"/>
                </a:solidFill>
                <a:latin typeface="Arial"/>
                <a:ea typeface="Arial"/>
                <a:cs typeface="Arial"/>
              </a:rPr>
              <a:t>ALPACA AI TRADING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4CADD-76D8-4975-9613-3058B192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478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Aegis 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8310C-4515-4BD0-AF6A-186FBA67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57475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AE3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AE3EA"/>
                </a:solidFill>
                <a:latin typeface="Arial"/>
                <a:ea typeface="Arial"/>
                <a:cs typeface="Arial"/>
              </a:rPr>
              <a:t>An autonomous, explainable options agent with deterministic risk control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552450" y="4105275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7C4F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2493C-FC93-493A-9169-CFEBBCED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52925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SPY / QQQ defined-risk debit spreads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Paper trading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40C64-18F1-44B6-AB09-6EA4BC82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9AA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9AA7"/>
                </a:solidFill>
                <a:latin typeface="Arial"/>
                <a:ea typeface="Arial"/>
                <a:cs typeface="Arial"/>
              </a:rPr>
              <a:t>Hackathon submission •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336792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2D141-478A-4DB0-940B-70D9F5AF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749ED-13F0-41D1-9E3B-BF862FCD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Autonomy needs a hard boundary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495300" y="136207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70B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57FB4-510A-4C88-B0D0-77FCA8C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89BCD-384A-4EC3-BF9E-91FD8FB7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19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E3E5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E3E54"/>
                </a:solidFill>
                <a:latin typeface="Arial"/>
                <a:ea typeface="Arial"/>
                <a:cs typeface="Arial"/>
              </a:rPr>
              <a:t>THE FAILURE MODE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1A50F-7D0B-4EC1-9937-65F2BC47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AI can produce a persuasive thesis while market data is stale, liquidity is poor, or portfolio risk is already exhausted.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FDA97-8A1A-4F30-846C-2EFC340F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7335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0"/>
          </a:solidFill>
          <a:ln xmlns:a="http://schemas.openxmlformats.org/drawingml/2006/main" w="0">
            <a:solidFill>
              <a:srgbClr val="070B1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A8DD7-2C1F-41C3-8501-6CA55093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192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F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8F64"/>
                </a:solidFill>
                <a:latin typeface="Arial"/>
                <a:ea typeface="Arial"/>
                <a:cs typeface="Arial"/>
              </a:rPr>
              <a:t>THE DESIGN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D8196-FEEC-4DD2-993B-B194E591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4810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5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Reasoning may rank valid opportunities. Deterministic Python alone decides whether an order is permitted.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988E2-BCBE-49BF-A6A0-9939D8DC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2430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• Missing data → NO_TRADE</a:t>
            </a:r>
          </a:p>
          <a:p xmlns:a="http://schemas.openxmlformats.org/drawingml/2006/main">
            <a:pPr algn="l">
              <a:defRPr sz="16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• Contradiction → NO_TRADE</a:t>
            </a:r>
          </a:p>
          <a:p xmlns:a="http://schemas.openxmlformats.org/drawingml/2006/main">
            <a:pPr algn="l">
              <a:defRPr sz="16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• Reconciliation mismatch → HALT</a:t>
            </a:r>
          </a:p>
          <a:p xmlns:a="http://schemas.openxmlformats.org/drawingml/2006/main">
            <a:pPr algn="l">
              <a:defRPr sz="16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• Live endpoint → REJECT</a:t>
            </a:r>
          </a:p>
        </p:txBody>
      </p:sp>
    </p:spTree>
    <p:extLst>
      <p:ext uri="{BB962C8B-B14F-4D97-AF65-F5344CB8AC3E}">
        <p14:creationId xmlns:p14="http://schemas.microsoft.com/office/powerpoint/2010/main" val="12867456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A78937-A38D-49C2-970E-D38D4679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D5EF6-955A-47DB-903A-59BE6D9E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Every cycle narrows freedom before execution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136207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70B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DE12F-B7A5-4EBD-9DDA-C324D7A2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A5565-F5FE-4D7D-AB4F-900BABC9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CC4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F6E20-2B5B-463E-9A7B-B60852B2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95525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Market</a:t>
            </a:r>
          </a:p>
          <a:p xmlns:a="http://schemas.openxmlformats.org/drawingml/2006/main">
            <a:pPr algn="ctr">
              <a:defRPr sz="14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8623C-D286-40F9-A516-945B64EF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526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CC4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25418-52B8-4817-B9D3-B3846D12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295525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Regime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5CE88-D415-46D3-BC5F-D10C36EF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526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CC4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947D8-569E-4FFE-AD1D-E545BBA8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95525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Candidates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929B6-CAF1-40FE-A595-CA3E7364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1526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CC4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1FD89-9AC9-42AD-911B-149A7116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95525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Critic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54527-4DF4-47B5-8A20-04A341BD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526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FC"/>
          </a:solidFill>
          <a:ln xmlns:a="http://schemas.openxmlformats.org/drawingml/2006/main" w="9525">
            <a:solidFill>
              <a:srgbClr val="BCC4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0F591-9950-4529-9C8D-B4DBE83B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95525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Risk</a:t>
            </a:r>
          </a:p>
          <a:p xmlns:a="http://schemas.openxmlformats.org/drawingml/2006/main">
            <a:pPr algn="ctr">
              <a:defRPr sz="14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95E027-901A-46F9-82B3-BD76B425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1526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CC4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5B3A37-ED1A-43A3-B418-799B0543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95525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Executor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FF1527-A522-422D-8CD1-20E66E7B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526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CC4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8B7B3-6990-4A5B-A507-C9156C19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95525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1828800" y="25146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0B10"/>
            </a:solidFill>
            <a:prstDash val="solid"/>
          </a:ln>
        </p:spPr>
      </p:cxnSp>
      <p:cxnSp>
        <p:nvCxnSpPr>
          <p:cNvPr id="49" name=""/>
          <p:cNvCxnSpPr/>
          <p:nvPr/>
        </p:nvCxnSpPr>
        <p:spPr>
          <a:xfrm xmlns:a="http://schemas.openxmlformats.org/drawingml/2006/main">
            <a:off x="3476625" y="25146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0B10"/>
            </a:solidFill>
            <a:prstDash val="solid"/>
          </a:ln>
        </p:spPr>
      </p:cxnSp>
      <p:cxnSp>
        <p:nvCxnSpPr>
          <p:cNvPr id="50" name=""/>
          <p:cNvCxnSpPr/>
          <p:nvPr/>
        </p:nvCxnSpPr>
        <p:spPr>
          <a:xfrm xmlns:a="http://schemas.openxmlformats.org/drawingml/2006/main">
            <a:off x="5124450" y="25146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0B10"/>
            </a:solidFill>
            <a:prstDash val="solid"/>
          </a:ln>
        </p:spPr>
      </p:cxnSp>
      <p:cxnSp>
        <p:nvCxnSpPr>
          <p:cNvPr id="51" name=""/>
          <p:cNvCxnSpPr/>
          <p:nvPr/>
        </p:nvCxnSpPr>
        <p:spPr>
          <a:xfrm xmlns:a="http://schemas.openxmlformats.org/drawingml/2006/main">
            <a:off x="6772275" y="25146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52" name=""/>
          <p:cNvCxnSpPr/>
          <p:nvPr/>
        </p:nvCxnSpPr>
        <p:spPr>
          <a:xfrm xmlns:a="http://schemas.openxmlformats.org/drawingml/2006/main">
            <a:off x="8420100" y="25146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0B10"/>
            </a:solidFill>
            <a:prstDash val="solid"/>
          </a:ln>
        </p:spPr>
      </p:cxnSp>
      <p:cxnSp>
        <p:nvCxnSpPr>
          <p:cNvPr id="53" name=""/>
          <p:cNvCxnSpPr/>
          <p:nvPr/>
        </p:nvCxnSpPr>
        <p:spPr>
          <a:xfrm xmlns:a="http://schemas.openxmlformats.org/drawingml/2006/main">
            <a:off x="10067925" y="25146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0B10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A7DF1-F1B6-443F-9E8B-4F4B2A7B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5280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AI reasoning zone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2047875" y="3771900"/>
            <a:ext cx="472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CC4CC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25D970-1411-4472-9CF2-6BA5A871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52800"/>
            <a:ext cx="440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Deterministic safety + execution zone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6991350" y="3771900"/>
            <a:ext cx="472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B43706-3572-49F9-A821-10B73B55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524375"/>
            <a:ext cx="7753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Independent CLI reconciliation runs around the execution boundary. MCP remains inspection-only for the demo.</a:t>
            </a:r>
          </a:p>
        </p:txBody>
      </p:sp>
    </p:spTree>
    <p:extLst>
      <p:ext uri="{BB962C8B-B14F-4D97-AF65-F5344CB8AC3E}">
        <p14:creationId xmlns:p14="http://schemas.microsoft.com/office/powerpoint/2010/main" val="15233788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CD746-7B1C-4FE5-A5B7-C0BDD33A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AEEA1-24AB-4943-9935-4D02CEDD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The search space is deliberately small and testable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95300" y="136207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70B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729FF-9CB2-40A1-94C6-1B6558A7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58AAE-2066-4931-8E10-87D88CF3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430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4142F-7C82-48B4-A0FD-20A2E46B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3238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Five-minute EMA trend, VWAP, RSI and realized volatility classify the regime as bullish, bearish or neutral.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0" y="171450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561E0-B758-43FF-81AC-80028CEB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7430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CONTRACTS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FD9AB-2800-49EF-B45C-C6FFFAA7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57400"/>
            <a:ext cx="3238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Only same-expiry SPY/QQQ bull-call or bear-put debit spreads, 7–21 DTE, with long delta near 0.35–0.55.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3AF59-BEA5-42E6-8F8C-DBB13C25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430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35021-26B0-4295-B3AE-F63C9E4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3238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One atomic two-leg limit order with an idempotent client_order_id. Neutral regimes produce no candidate.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3A149-CF49-4BE8-8F19-EA3DF2B0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10915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0"/>
          </a:solidFill>
          <a:ln xmlns:a="http://schemas.openxmlformats.org/drawingml/2006/main" w="0">
            <a:solidFill>
              <a:srgbClr val="070B1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CFD41-B1D7-47E2-B461-449A09BC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34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Selection is optimized. Constraints are fixed.</a:t>
            </a:r>
          </a:p>
        </p:txBody>
      </p:sp>
    </p:spTree>
    <p:extLst>
      <p:ext uri="{BB962C8B-B14F-4D97-AF65-F5344CB8AC3E}">
        <p14:creationId xmlns:p14="http://schemas.microsoft.com/office/powerpoint/2010/main" val="5535099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9FCA1D-39C2-4589-83DF-48F178A9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RISK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1A282-0FE4-4F03-B28A-ED80086E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Nine deterministic gates must all agree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95300" y="136207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70B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060F5-DFFC-4290-9FC2-FCB87086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6B158-E1AC-4383-A437-5DE3EC2A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≤ $500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F22EB-7875-47D7-95F4-BA19447E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72402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planned loss per trade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523875" y="2390775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5FCFC-55C3-4C48-B1A4-E3C01B93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764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≤ $1,500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73B29-C7EE-40BD-B4DB-C6959AA4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72402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aggregate open risk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352925" y="2390775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E84DD-5538-4F9B-8FEA-BAC9D538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764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≤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4EA93-950C-4AF7-B51C-45A27907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72402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simultaneous positions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8181975" y="2390775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5CD68-83C5-485E-9520-E27F1F98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575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 / 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CB4C8-290B-442B-B639-CA021008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05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new trade per underlying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523875" y="37719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E2B65-A947-4A51-9E6C-B1E7E349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575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30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475FC8-AEBE-4DE8-A0C3-91F58233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105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post-order cooldown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4352925" y="37719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C9D697-26B2-4415-8D55-6695AACF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0575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≤ 60 sec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A8276-4E54-420F-BF8B-8E6DD2BB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105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quote freshness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8181975" y="37719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8CBA37-EE65-44B2-981F-9FC3B280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386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≤ 15%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A08893-7D40-48B5-9D02-CE6F9BA7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86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quote-width ratio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523875" y="5153025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92D0C2-9446-4BD1-949D-22BF8091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4386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−1.5%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2099E0-710A-4505-8F51-C479E22F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486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daily drawdown halt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4352925" y="5153025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FF6DD9-4C24-4253-8C4C-8F89A021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4386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E3E5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E3E54"/>
                </a:solidFill>
                <a:latin typeface="Arial"/>
                <a:ea typeface="Arial"/>
                <a:cs typeface="Arial"/>
              </a:rPr>
              <a:t>15:45 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B469B3-5A19-426F-992E-D65CC571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486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forced risk exit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8181975" y="5153025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A7E83C-2844-4C6A-B8F4-3F09EAA7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340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Exit logic: +40% profit • −30% loss • invalidated signal • end-of-day cutoff</a:t>
            </a:r>
          </a:p>
        </p:txBody>
      </p:sp>
    </p:spTree>
    <p:extLst>
      <p:ext uri="{BB962C8B-B14F-4D97-AF65-F5344CB8AC3E}">
        <p14:creationId xmlns:p14="http://schemas.microsoft.com/office/powerpoint/2010/main" val="8808790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FCC95-EECF-4BFF-8EBF-42C7C3F8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EXECUTION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55099-71CA-4805-BC16-21B474D5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A second control plane checks the first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95300" y="136207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70B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D44ED-90B8-4192-91C0-45143945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8E880-7BD8-4C6D-8438-B0EEC4BA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SDK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CCA76-8653-4AE3-BFEB-B40D35CC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4524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alpaca-py retrieves account, clock, data, option chain and positions—then submits a typed multi-leg limit order.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11F34-8DB8-402A-AD47-CD54EB5D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240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CLI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366A3-9A75-49C7-8960-436A6DA1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85975"/>
            <a:ext cx="4524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Pinned Alpaca CLI independently reads account, open orders and positions through isolated JSON parsing.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5381625" y="2686050"/>
            <a:ext cx="1400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0B10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40CE7-528D-4907-ACAF-058F9E89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24100"/>
            <a:ext cx="1381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15C19-71D5-4371-8198-406AFE5F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1460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941BA-4BD7-4BFB-956C-975CAFAF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81500"/>
            <a:ext cx="87249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0"/>
          </a:solidFill>
          <a:ln xmlns:a="http://schemas.openxmlformats.org/drawingml/2006/main" w="0">
            <a:solidFill>
              <a:srgbClr val="070B1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F79A8-02FC-498B-A9E4-B64FA291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657725"/>
            <a:ext cx="817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2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Mismatch → log full evidence → activate execution halt → allow no new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73053-9846-4E74-837D-974666B3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724525"/>
            <a:ext cx="874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MCP is a judge-facing inspection surface—not a backdoor around the risk engine.</a:t>
            </a:r>
          </a:p>
        </p:txBody>
      </p:sp>
    </p:spTree>
    <p:extLst>
      <p:ext uri="{BB962C8B-B14F-4D97-AF65-F5344CB8AC3E}">
        <p14:creationId xmlns:p14="http://schemas.microsoft.com/office/powerpoint/2010/main" val="1330304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C3CAB-C8F3-45B6-A025-6B4BF45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96B79-07EB-4808-B080-1A456482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Offline verified; broker proof is still pending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95300" y="136207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70B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933B2-EE30-47A3-BDA8-9938B75B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F8C38-22FC-4055-89EC-DF4BFD11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6690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6F2FD-FE03-41D8-81D9-FEA64DFC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6860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tests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A2BEE-9FD4-488C-B9CA-14F8251C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6690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59BBD-F60E-428C-8599-1C345657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replay regimes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B672E-96FB-46E1-81EA-210036A1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669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72%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3C988-BC0F-42D2-A4DC-52161521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860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measured code coverage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542925" y="3476625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04457-85FC-4920-AC49-5B3D4213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829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8F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8F64"/>
                </a:solidFill>
                <a:latin typeface="Arial"/>
                <a:ea typeface="Arial"/>
                <a:cs typeface="Arial"/>
              </a:rPr>
              <a:t>Verified locally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01D41-0563-479C-BA9B-2E925E35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257675"/>
            <a:ext cx="4667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Signals • filtering • risk gates • idempotency • malformed AI • replay • sanitized export • forced exits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EACDF-7704-47B5-8841-0EE95A83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E3E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E3E54"/>
                </a:solidFill>
                <a:latin typeface="Arial"/>
                <a:ea typeface="Arial"/>
                <a:cs typeface="Arial"/>
              </a:rPr>
              <a:t>Credential-gated 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6976D-F0D8-447C-AD92-8C72C81B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667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Real paper account • option-chain integration • filled multi-leg lifecycle • CLI reconciliation • paper P&amp;L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D2F68-50B3-4544-844B-BFD552AB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53125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One credential-gated integration test is skipped by design.</a:t>
            </a:r>
          </a:p>
        </p:txBody>
      </p:sp>
    </p:spTree>
    <p:extLst>
      <p:ext uri="{BB962C8B-B14F-4D97-AF65-F5344CB8AC3E}">
        <p14:creationId xmlns:p14="http://schemas.microsoft.com/office/powerpoint/2010/main" val="19885257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B2543-5C9C-483B-BE54-9DD145D0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C4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C4F4"/>
                </a:solidFill>
                <a:latin typeface="Arial"/>
                <a:ea typeface="Arial"/>
                <a:cs typeface="Arial"/>
              </a:rPr>
              <a:t>THE DEMO PROMISE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12015-DEDC-4AC3-B31B-844B1F5E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72390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every decision.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Bound every loss.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Fail closed.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552450" y="410527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7C4F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61577-F2D1-4504-A023-4187DA71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C4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7C4F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C7FA7-CDFB-44E2-8A2F-8257F264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482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one 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4A026-EE22-4A4D-BB72-2931C475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6732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1"/>
                </a:solidFill>
                <a:latin typeface="Arial"/>
                <a:ea typeface="Arial"/>
                <a:cs typeface="Arial"/>
              </a:rPr>
              <a:t>Regime → spread → critic → gates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4022B-5507-4967-91EC-63A9BDA9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C4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7C4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1CB3C-42EE-42F1-9A71-2B804B88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482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Inspect execution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50D91-C478-4F5A-B6FD-14BBE358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6732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1"/>
                </a:solidFill>
                <a:latin typeface="Arial"/>
                <a:ea typeface="Arial"/>
                <a:cs typeface="Arial"/>
              </a:rPr>
              <a:t>API request, order intent and audit 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468D3-8F30-496A-8335-D2581DD6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76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C4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7C4F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6C51B-C9FA-44DD-A968-E5C105B3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482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Reconcile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6C8D4-A4C6-4776-B8F9-A7C63A14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6732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1"/>
                </a:solidFill>
                <a:latin typeface="Arial"/>
                <a:ea typeface="Arial"/>
                <a:cs typeface="Arial"/>
              </a:rPr>
              <a:t>SDK vs CLI account, orders and positions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C3BE2-A12E-4D45-9330-BFA5B706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76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C4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7C4F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7DABE-E25B-4F29-9702-46FA53ED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482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 limits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2BADF-0D4B-461C-9360-81BBA0F9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6732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1"/>
                </a:solidFill>
                <a:latin typeface="Arial"/>
                <a:ea typeface="Arial"/>
                <a:cs typeface="Arial"/>
              </a:rPr>
              <a:t>Dashboard, MCP inspection and honest caveats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32E58-09E8-4C23-BD16-72C4EC12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9AA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9AA7"/>
                </a:solidFill>
                <a:latin typeface="Arial"/>
                <a:ea typeface="Arial"/>
                <a:cs typeface="Arial"/>
              </a:rPr>
              <a:t>Paper trading only • No claim of real-world profitability</a:t>
            </a:r>
          </a:p>
        </p:txBody>
      </p:sp>
    </p:spTree>
    <p:extLst>
      <p:ext uri="{BB962C8B-B14F-4D97-AF65-F5344CB8AC3E}">
        <p14:creationId xmlns:p14="http://schemas.microsoft.com/office/powerpoint/2010/main" val="973349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2026-09-01T12:48:03.3450000Z</dcterms:created>
  <dcterms:modified xsi:type="dcterms:W3CDTF">2026-09-01T12:48:03.3450000Z</dcterms:modified>
</coreProperties>
</file>